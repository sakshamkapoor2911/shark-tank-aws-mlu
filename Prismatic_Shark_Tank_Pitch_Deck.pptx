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25-SECOND HOOK:</a:t>
            </a:r>
          </a:p>
          <a:p>
            <a:r>
              <a:t>Judges, picture a 300-person lecture hall right here at Howard or UMD. The professor spends 75 minutes covering one complex concept. Half the class nods; the other half walks out completely lost, staring at a 40-page slide deck with intense brain fog.</a:t>
            </a:r>
          </a:p>
          <a:p/>
          <a:p>
            <a:r>
              <a:t>The problem isn't that college students aren't smart. The problem is that white light contains every color, but a flat chalkboard only projects one shade. Professors teach in one rigid format, while human brains process information in completely different spectrums.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SOLUTION PITCH:</a:t>
            </a:r>
          </a:p>
          <a:p>
            <a:r>
              <a:t>That is why we built Prismatic. Prismatic is an agentic learning engine on Amazon Quick that acts as a cognitive prism.</a:t>
            </a:r>
          </a:p>
          <a:p>
            <a:r>
              <a:t>In under 30 seconds, a rapid 5-question diagnostic maps how your brain actually absorbs information—whether you need analogies, visual flowcharts, Socratic active recall, or an emergency 15-minute action sprint.</a:t>
            </a:r>
          </a:p>
          <a:p>
            <a:r>
              <a:t>Instead of forcing you to adapt to the syllabus, Prismatic adapts the syllabus to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APPLICATION WALKTHROUGH:</a:t>
            </a:r>
          </a:p>
          <a:p>
            <a:r>
              <a:t>Here is Prismatic running live on Amazon Quick:</a:t>
            </a:r>
          </a:p>
          <a:p>
            <a:r>
              <a:t>When you paste in a notoriously brutal topic—like Dijkstra’s Algorithm or Cellular Respiration:</a:t>
            </a:r>
          </a:p>
          <a:p>
            <a:r>
              <a:t>1. For conceptual thinkers, Spectrum 1 translates the math into a relatable campus dining hall rush.</a:t>
            </a:r>
          </a:p>
          <a:p>
            <a:r>
              <a:t>2. For visual learners, Spectrum 2 renders an interactive ASCII concept map.</a:t>
            </a:r>
          </a:p>
          <a:p>
            <a:r>
              <a:t>3. For active crammers, Spectrum 3 launches our Socratic Sparring Partner—an AI that quizzes you with high-yield edge cases.</a:t>
            </a:r>
          </a:p>
          <a:p>
            <a:r>
              <a:t>4. And for exam morning, it builds a 4-slide micro-deck exposing the exact trap questions professors love to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SHARK TANK CLOSE:</a:t>
            </a:r>
          </a:p>
          <a:p>
            <a:r>
              <a:t>Private tutors cost $80 an hour. University office hours are 2 hours a week. Prismatic democratizes elite, personalized cognitive tutoring for every college student on campus with zero barriers to entry.</a:t>
            </a:r>
          </a:p>
          <a:p>
            <a:r>
              <a:t>We don't just help students pass exams; we eliminate academic paralysis and unlock confidence. We are Prismatic—refracting complex knowledge into your native spectrum. Thank you!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4114800" cy="365760"/>
          </a:xfrm>
          <a:prstGeom prst="roundRect">
            <a:avLst/>
          </a:prstGeom>
          <a:solidFill>
            <a:srgbClr val="1A2234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D4FF"/>
                </a:solidFill>
                <a:latin typeface="Segoe UI"/>
              </a:defRPr>
            </a:pPr>
            <a:r>
              <a:t>CLOUD CONNECT — HOWARD 2026 | AWS × MLU × BEN TECH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Segoe UI"/>
              </a:defRPr>
            </a:pPr>
            <a:r>
              <a:t>PRISMATIC</a:t>
            </a:r>
          </a:p>
          <a:p>
            <a:pPr>
              <a:defRPr sz="2000">
                <a:solidFill>
                  <a:srgbClr val="A855F7"/>
                </a:solidFill>
                <a:latin typeface="Segoe UI"/>
              </a:defRPr>
            </a:pPr>
            <a:r>
              <a:t>Refracting Complex Knowledge Into Your Mind's Native Spectrum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08960"/>
            <a:ext cx="3383280" cy="2926080"/>
          </a:xfrm>
          <a:prstGeom prst="roundRect">
            <a:avLst/>
          </a:prstGeom>
          <a:solidFill>
            <a:srgbClr val="121826"/>
          </a:solidFill>
          <a:ln w="15240">
            <a:solidFill>
              <a:srgbClr val="283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383280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43F5E"/>
                </a:solidFill>
                <a:latin typeface="Segoe UI"/>
              </a:defRPr>
            </a:pPr>
            <a:r>
              <a:t>300 STUDENTS, 1 FORMAT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88620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Lecture Hall Asymmetry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343400"/>
            <a:ext cx="29260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94A3B8"/>
                </a:solidFill>
                <a:latin typeface="Segoe UI"/>
              </a:defRPr>
            </a:pPr>
            <a:r>
              <a:t>Professors teach one way. Half the room absorbs it; the other half walks out with intense brain fog.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108960"/>
            <a:ext cx="3383280" cy="2926080"/>
          </a:xfrm>
          <a:prstGeom prst="roundRect">
            <a:avLst/>
          </a:prstGeom>
          <a:solidFill>
            <a:srgbClr val="121826"/>
          </a:solidFill>
          <a:ln w="15240">
            <a:solidFill>
              <a:srgbClr val="283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3383280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Segoe UI"/>
              </a:defRPr>
            </a:pPr>
            <a:r>
              <a:t>78% TASK PARALYSIS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88620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The 2026 Reality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4343400"/>
            <a:ext cx="29260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94A3B8"/>
                </a:solidFill>
                <a:latin typeface="Segoe UI"/>
              </a:defRPr>
            </a:pPr>
            <a:r>
              <a:t>Students don't fail from lack of intellect; they freeze when staring at 40-page PDFs with zero cognitive adaptation.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108960"/>
            <a:ext cx="3383280" cy="2926080"/>
          </a:xfrm>
          <a:prstGeom prst="roundRect">
            <a:avLst/>
          </a:prstGeom>
          <a:solidFill>
            <a:srgbClr val="121826"/>
          </a:solidFill>
          <a:ln w="15240">
            <a:solidFill>
              <a:srgbClr val="283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3383280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B981"/>
                </a:solidFill>
                <a:latin typeface="Segoe UI"/>
              </a:defRPr>
            </a:pPr>
            <a:r>
              <a:t>&lt; 30 SEC DIAGNOSTIC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388620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The Prismatic Answer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4343400"/>
            <a:ext cx="29260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94A3B8"/>
                </a:solidFill>
                <a:latin typeface="Segoe UI"/>
              </a:defRPr>
            </a:pPr>
            <a:r>
              <a:t>5 scenario questions map your cognitive profile and refract any topic into 4 personalized learning modalities.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The Cognitive Prism Engine: Ingest, Diagnose &amp; Refract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Engineered in 60 minutes on Amazon Quick with agentic multi-widget pipeline orchestration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383280" cy="4480560"/>
          </a:xfrm>
          <a:prstGeom prst="roundRect">
            <a:avLst/>
          </a:prstGeom>
          <a:solidFill>
            <a:srgbClr val="121826"/>
          </a:solidFill>
          <a:ln w="15240">
            <a:solidFill>
              <a:srgbClr val="283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D4FF"/>
                </a:solidFill>
                <a:latin typeface="Segoe UI"/>
              </a:defRPr>
            </a:pPr>
            <a:r>
              <a:t>STEP 1: INGEST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14600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Segoe UI"/>
              </a:defRPr>
            </a:pPr>
            <a:r>
              <a:t>Raw Academic 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63240"/>
            <a:ext cx="283464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Student pastes confusing lecture slides, a syllabus link, or a brutal midterm exam review sheet.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91640"/>
            <a:ext cx="3383280" cy="4480560"/>
          </a:xfrm>
          <a:prstGeom prst="roundRect">
            <a:avLst/>
          </a:prstGeom>
          <a:solidFill>
            <a:srgbClr val="121826"/>
          </a:solidFill>
          <a:ln w="15240">
            <a:solidFill>
              <a:srgbClr val="283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05740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A855F7"/>
                </a:solidFill>
                <a:latin typeface="Segoe UI"/>
              </a:defRPr>
            </a:pPr>
            <a:r>
              <a:t>STEP 2: DIAGNOSE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514600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Segoe UI"/>
              </a:defRPr>
            </a:pPr>
            <a:r>
              <a:t>30-Second Cognitive Triage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063240"/>
            <a:ext cx="283464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5 scenario questions identify primary learning modality, friction bottlenecks, and exam countdown.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91640"/>
            <a:ext cx="3383280" cy="4480560"/>
          </a:xfrm>
          <a:prstGeom prst="roundRect">
            <a:avLst/>
          </a:prstGeom>
          <a:solidFill>
            <a:srgbClr val="121826"/>
          </a:solidFill>
          <a:ln w="15240">
            <a:solidFill>
              <a:srgbClr val="283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05740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STEP 3: REFRACT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514600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Segoe UI"/>
              </a:defRPr>
            </a:pPr>
            <a:r>
              <a:t>Multi-Modal Synthesis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063240"/>
            <a:ext cx="283464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Amazon Quick orchestrates Amazon Bedrock models into 4 distinct, simultaneous learning spectrums.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Segoe UI"/>
              </a:defRPr>
            </a:pPr>
            <a:r>
              <a:t>PRODUCT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The 4 Learning Spectrums: Zero Errors, Maximum Retention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Every student gets the modality their brain naturally responds 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2103120"/>
          </a:xfrm>
          <a:prstGeom prst="roundRect">
            <a:avLst/>
          </a:prstGeom>
          <a:solidFill>
            <a:srgbClr val="121826"/>
          </a:solidFill>
          <a:ln w="15240">
            <a:solidFill>
              <a:srgbClr val="283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D4FF"/>
                </a:solidFill>
                <a:latin typeface="Segoe UI"/>
              </a:defRPr>
            </a:pPr>
            <a:r>
              <a:t>SPECTRUM 1: INTUITIVE ANALOGY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Dorm &amp; Campus Analogies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46634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Maps abstract theory to everyday student life. E.g., Dijkstra's shortest path = navigating dining hall rush hours at peak times.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91640"/>
            <a:ext cx="5212080" cy="2103120"/>
          </a:xfrm>
          <a:prstGeom prst="roundRect">
            <a:avLst/>
          </a:prstGeom>
          <a:solidFill>
            <a:srgbClr val="121826"/>
          </a:solidFill>
          <a:ln w="15240">
            <a:solidFill>
              <a:srgbClr val="283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A855F7"/>
                </a:solidFill>
                <a:latin typeface="Segoe UI"/>
              </a:defRPr>
            </a:pPr>
            <a:r>
              <a:t>SPECTRUM 2: VISUAL SCHEMATIC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28600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ASCII &amp; Concept Maps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46634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Structures execution order, logical branches, and state changes into visual mental architectures for STEM/CS.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69079"/>
            <a:ext cx="5212080" cy="2103120"/>
          </a:xfrm>
          <a:prstGeom prst="roundRect">
            <a:avLst/>
          </a:prstGeom>
          <a:solidFill>
            <a:srgbClr val="121826"/>
          </a:solidFill>
          <a:ln w="15240">
            <a:solidFill>
              <a:srgbClr val="283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297679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SPECTRUM 3: SOCRATIC SPARRING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663439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Active Retrieval Partner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120639"/>
            <a:ext cx="46634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Chatbot strictly limited to 2 sentences; never lectures; fires progressive edge cases to force active recall.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069079"/>
            <a:ext cx="5212080" cy="2103120"/>
          </a:xfrm>
          <a:prstGeom prst="roundRect">
            <a:avLst/>
          </a:prstGeom>
          <a:solidFill>
            <a:srgbClr val="121826"/>
          </a:solidFill>
          <a:ln w="15240">
            <a:solidFill>
              <a:srgbClr val="283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297679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Segoe UI"/>
              </a:defRPr>
            </a:pPr>
            <a:r>
              <a:t>SPECTRUM 4: EXAM TRAP DECK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663439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4-Slide Micro-Presentation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120639"/>
            <a:ext cx="46634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Distills the topic into 4 slides exposing the exact tricks and traps professors test on Midterm #2.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Segoe UI"/>
              </a:defRPr>
            </a:pPr>
            <a:r>
              <a:t>MARKET OPPORTUNITY &amp; CLOSING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Democratizing Elite Tutoring: From Luxury to Student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The $80/hr private tutor in every student's pocket on Amazon Quick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383280" cy="2011680"/>
          </a:xfrm>
          <a:prstGeom prst="roundRect">
            <a:avLst/>
          </a:prstGeom>
          <a:solidFill>
            <a:srgbClr val="121826"/>
          </a:solidFill>
          <a:ln w="15240">
            <a:solidFill>
              <a:srgbClr val="283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D4FF"/>
                </a:solidFill>
                <a:latin typeface="Segoe UI"/>
              </a:defRPr>
            </a:pPr>
            <a:r>
              <a:t>20M+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2316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U.S. Undergrads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88920"/>
            <a:ext cx="29260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Struggling with post-AI curriculum shifts and dense, fast-moving lectures.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91640"/>
            <a:ext cx="3383280" cy="2011680"/>
          </a:xfrm>
          <a:prstGeom prst="roundRect">
            <a:avLst/>
          </a:prstGeom>
          <a:solidFill>
            <a:srgbClr val="121826"/>
          </a:solidFill>
          <a:ln w="15240">
            <a:solidFill>
              <a:srgbClr val="283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920240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43F5E"/>
                </a:solidFill>
                <a:latin typeface="Segoe UI"/>
              </a:defRPr>
            </a:pPr>
            <a:r>
              <a:t>$80 / HR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42316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Private Tutoring 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88920"/>
            <a:ext cx="29260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Traditional tutoring is financially gatekept; Prismatic costs pennies on Bedrock.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91640"/>
            <a:ext cx="3383280" cy="2011680"/>
          </a:xfrm>
          <a:prstGeom prst="roundRect">
            <a:avLst/>
          </a:prstGeom>
          <a:solidFill>
            <a:srgbClr val="121826"/>
          </a:solidFill>
          <a:ln w="15240">
            <a:solidFill>
              <a:srgbClr val="283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920240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0B981"/>
                </a:solidFill>
                <a:latin typeface="Segoe UI"/>
              </a:defRPr>
            </a:pPr>
            <a:r>
              <a:t>100% NO-CODE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42316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Amazon Quick Power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788920"/>
            <a:ext cx="29260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Shipped a working, interactive multi-widget app in 60 minutes flat.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977639"/>
            <a:ext cx="10698480" cy="2194560"/>
          </a:xfrm>
          <a:prstGeom prst="roundRect">
            <a:avLst/>
          </a:prstGeom>
          <a:solidFill>
            <a:srgbClr val="1A2234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206240"/>
            <a:ext cx="9966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D4FF"/>
                </a:solidFill>
                <a:latin typeface="Segoe UI"/>
              </a:defRPr>
            </a:pPr>
            <a:r>
              <a:t>THE SHARK TANK VERDICT</a:t>
            </a:r>
          </a:p>
          <a:p>
            <a:pPr>
              <a:defRPr sz="1350" i="1">
                <a:solidFill>
                  <a:srgbClr val="FFFFFF"/>
                </a:solidFill>
                <a:latin typeface="Segoe UI"/>
              </a:defRPr>
            </a:pPr>
            <a:r>
              <a:t>"Private tutors cost $80 an hour. Campus office hours are packed 2 hours a week.</a:t>
            </a:r>
            <a:br/>
            <a:r>
              <a:t>Prismatic makes world-class, adaptive cognitive education accessible to every student on campus.</a:t>
            </a:r>
            <a:br/>
            <a:r>
              <a:t>We don't just help students pass exams; we eliminate academic paralysis and unlock confidence."</a:t>
            </a:r>
          </a:p>
          <a:p>
            <a:pPr>
              <a:defRPr sz="1250" b="1">
                <a:solidFill>
                  <a:srgbClr val="10B981"/>
                </a:solidFill>
                <a:latin typeface="Segoe UI"/>
              </a:defRPr>
            </a:pPr>
            <a:r>
              <a:t>WE ARE PRISMATIC — REFRACTING COMPLEX KNOWLEDGE INTO YOUR NATIVE SPECTRUM.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