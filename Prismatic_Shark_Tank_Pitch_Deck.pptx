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(0:00 - 0:35):</a:t>
            </a:r>
          </a:p>
          <a:p/>
          <a:p>
            <a:r>
              <a:t>[0:00 - 0:10] SEGMENT 1: TEAM NAME (10s)</a:t>
            </a:r>
          </a:p>
          <a:p>
            <a:r>
              <a:t>"Good afternoon, judges and fellow builders! We are PRISMATIC—and we are here to refract the way college students learn!"</a:t>
            </a:r>
          </a:p>
          <a:p/>
          <a:p>
            <a:r>
              <a:t>[0:10 - 0:35] SEGMENT 2: THE HOOK (25s)</a:t>
            </a:r>
          </a:p>
          <a:p>
            <a:r>
              <a:t>"Picture a 300-person lecture hall right here at Howard or UMD. The professor spends 75 minutes covering one complex concept. Half the class nods; the other half walks out completely lost with intense brain fog.</a:t>
            </a:r>
          </a:p>
          <a:p>
            <a:r>
              <a:t>The problem isn't student intellect. White light contains every color, but a flat chalkboard only projects one shade. Professors teach in one rigid format, while human brains process knowledge in completely different spectrums."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(0:35 - 1:20):</a:t>
            </a:r>
          </a:p>
          <a:p/>
          <a:p>
            <a:r>
              <a:t>[0:35 - 1:20] SEGMENT 3: YOUR APP (45s)</a:t>
            </a:r>
          </a:p>
          <a:p>
            <a:r>
              <a:t>"We built Prismatic on Amazon Quick—an agentic cognitive engine that turns 1 static lecture into 4 tailored learning modalities in under 30 seconds.</a:t>
            </a:r>
          </a:p>
          <a:p>
            <a:r>
              <a:t>First, a rapid 5-question diagnostic maps how your brain absorbs information. Then, our Amazon Bedrock pipeline instantly refracts the material:</a:t>
            </a:r>
          </a:p>
          <a:p>
            <a:r>
              <a:t>- Spectrum 1 translates abstract theory into relatable dorm and dining hall analogies.</a:t>
            </a:r>
          </a:p>
          <a:p>
            <a:r>
              <a:t>- Spectrum 2 renders structural ASCII concept maps.</a:t>
            </a:r>
          </a:p>
          <a:p>
            <a:r>
              <a:t>- Spectrum 3 launches a Socratic Sparring Partner that quizzes you one edge-case at a time without spoiling answers.</a:t>
            </a:r>
          </a:p>
          <a:p>
            <a:r>
              <a:t>- And Spectrum 4 builds a 4-slide micro-deck exposing the exact trap questions professors test on midterms."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(1:20 - 1:45):</a:t>
            </a:r>
          </a:p>
          <a:p/>
          <a:p>
            <a:r>
              <a:t>[1:20 - 1:45] SEGMENT 4: WHY IT WINS (25s)</a:t>
            </a:r>
          </a:p>
          <a:p>
            <a:r>
              <a:t>"Over 20 million college students face academic paralysis every semester.</a:t>
            </a:r>
          </a:p>
          <a:p>
            <a:r>
              <a:t>Generic tools like ChatGPT just dump dry walls of text that students glaze over.</a:t>
            </a:r>
          </a:p>
          <a:p>
            <a:r>
              <a:t>Private tutoring costs $80 an hour, and professor office hours are only 2 hours a week.</a:t>
            </a:r>
          </a:p>
          <a:p>
            <a:r>
              <a:t>Prismatic is active, multi-modal, and adapts the syllabus to the student—democratizing elite private tutoring for pennies."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(1:45 - 2:00):</a:t>
            </a:r>
          </a:p>
          <a:p/>
          <a:p>
            <a:r>
              <a:t>[1:45 - 2:00] SEGMENT 5: THE CLOSE (15s)</a:t>
            </a:r>
          </a:p>
          <a:p>
            <a:r>
              <a:t>"With more time, we’d add live Canvas and syllabus LMS integration, automatically syncing weekly exam dates and generating proactive 15-minute micro-sprints before every morning class.</a:t>
            </a:r>
          </a:p>
          <a:p>
            <a:r>
              <a:t>We are PRISMATIC—refracting complex knowledge into your native spectrum.</a:t>
            </a:r>
          </a:p>
          <a:p>
            <a:r>
              <a:t>Vote Prismatic for your room champion! Thank you!"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66928"/>
            <a:ext cx="6858000" cy="384048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1792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 i="0">
                <a:solidFill>
                  <a:srgbClr val="4A8FC2"/>
                </a:solidFill>
                <a:latin typeface="Segoe UI"/>
              </a:defRPr>
            </a:pPr>
            <a:r>
              <a:t>AWS-MLU AI TEACHING &amp; RESEARCH SYMPOSIUM 2026 · HOWARD UNIVERSITY &amp; AMAZON HQ2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31375" y="566928"/>
            <a:ext cx="1828800" cy="384048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31375" y="62179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 i="0">
                <a:solidFill>
                  <a:srgbClr val="00C49F"/>
                </a:solidFill>
                <a:latin typeface="Segoe UI"/>
              </a:defRPr>
            </a:pPr>
            <a:r>
              <a:t>35s THE 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15568"/>
            <a:ext cx="8412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Prismatic: The Adaptive Cognitive Engine</a:t>
            </a:r>
          </a:p>
          <a:p>
            <a:pPr>
              <a:spcBef>
                <a:spcPts val="400"/>
              </a:spcBef>
              <a:defRPr sz="1400">
                <a:solidFill>
                  <a:srgbClr val="4A8FC2"/>
                </a:solidFill>
                <a:latin typeface="Segoe UI"/>
              </a:defRPr>
            </a:pPr>
            <a:r>
              <a:t>Refracting Complex Knowledge into 4 Personalized Learning Modalities on Amazon Quick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8229600" cy="201168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7772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C49F"/>
                </a:solidFill>
                <a:latin typeface="Segoe UI"/>
              </a:defRPr>
            </a:pPr>
            <a:r>
              <a:t>FOUNDING TEAM &amp; AFFILIATION: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FFFFFF"/>
                </a:solidFill>
              </a:rPr>
              <a:t>Saksham Kapoor </a:t>
            </a:r>
            <a:r>
              <a:rPr sz="1300">
                <a:solidFill>
                  <a:srgbClr val="A0A8B4"/>
                </a:solidFill>
              </a:rPr>
              <a:t>(University of Maryland, College Park) · 10-Student Cross-Campus Builder Cohort</a:t>
            </a:r>
          </a:p>
          <a:p>
            <a:pPr>
              <a:defRPr sz="1200" b="1">
                <a:solidFill>
                  <a:srgbClr val="4A8FC2"/>
                </a:solidFill>
                <a:latin typeface="Segoe UI"/>
              </a:defRPr>
            </a:pPr>
            <a:r>
              <a:t>THE 300-STUDENT LECTURE HALL PARADOX:</a:t>
            </a:r>
          </a:p>
          <a:p>
            <a:pPr>
              <a:defRPr sz="1150">
                <a:solidFill>
                  <a:srgbClr val="E8E9EC"/>
                </a:solidFill>
                <a:latin typeface="Segoe UI"/>
              </a:defRPr>
            </a:pPr>
            <a:r>
              <a:t>One professor teaches 300 students in one rigid format. White light contains every color, but a flat chalkboard only projects one shade. When students freeze with intense brain fog, it's not a lack of intelligence—it's a cognitive mismatch.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1188720"/>
            <a:ext cx="2179015" cy="3246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ismatic_github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371600"/>
            <a:ext cx="1627632" cy="1627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4040" y="3108960"/>
            <a:ext cx="1810512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0C49F"/>
                </a:solidFill>
                <a:latin typeface="Segoe UI"/>
              </a:defRPr>
            </a:pPr>
            <a:r>
              <a:t>SCAN FOR DEMO</a:t>
            </a:r>
          </a:p>
          <a:p>
            <a:pPr algn="ctr">
              <a:defRPr sz="900">
                <a:solidFill>
                  <a:srgbClr val="A0A8B4"/>
                </a:solidFill>
                <a:latin typeface="Segoe UI"/>
              </a:defRPr>
            </a:pPr>
            <a:r>
              <a:t>GitHub repo, web app code, prompt specs &amp; cue cards.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09160"/>
            <a:ext cx="2523744" cy="160020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873752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000" b="1" i="0">
                <a:solidFill>
                  <a:srgbClr val="00C49F"/>
                </a:solidFill>
                <a:latin typeface="Segoe UI"/>
              </a:defRPr>
            </a:pPr>
            <a:r>
              <a:t>&lt; 30 SECONDS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294376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Segoe UI"/>
              </a:defRPr>
            </a:pPr>
            <a:r>
              <a:t>Cognitive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6418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5-question diagnostic maps intake profile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5576" y="4709160"/>
            <a:ext cx="2523744" cy="160020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4873752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000" b="1" i="0">
                <a:solidFill>
                  <a:srgbClr val="00C49F"/>
                </a:solidFill>
                <a:latin typeface="Segoe UI"/>
              </a:defRPr>
            </a:pPr>
            <a:r>
              <a:t>4 SPECTRUMS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5294376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Segoe UI"/>
              </a:defRPr>
            </a:pPr>
            <a:r>
              <a:t>Learning Modalities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56418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Analogies, Schemas, Socratic &amp; Decks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4709160"/>
            <a:ext cx="2523744" cy="160020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4873752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000" b="1" i="0">
                <a:solidFill>
                  <a:srgbClr val="00C49F"/>
                </a:solidFill>
                <a:latin typeface="Segoe UI"/>
              </a:defRPr>
            </a:pPr>
            <a:r>
              <a:t>2-SENTENCE CAP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5294376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Segoe UI"/>
              </a:defRPr>
            </a:pPr>
            <a:r>
              <a:t>Socratic Sparring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6418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Active recall without text dumps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33688" y="4709160"/>
            <a:ext cx="2523744" cy="160020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4873752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A855F7"/>
                </a:solidFill>
                <a:latin typeface="Segoe UI"/>
              </a:defRPr>
            </a:pPr>
            <a:r>
              <a:t>100% NO-CODE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5294376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Segoe UI"/>
              </a:defRPr>
            </a:pPr>
            <a:r>
              <a:t>Amazon Quick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56418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Full multi-widget pipeline in 60 mins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78808E"/>
                </a:solidFill>
                <a:latin typeface="Segoe UI"/>
              </a:defRPr>
            </a:pPr>
            <a:r>
              <a:t>PRISMATIC · AWS × MLU FALL SYMPOSIUM 2026 · HOWARD UNIVERSITY &amp; AMAZON HQ2 | 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4A8FC2"/>
                </a:solidFill>
                <a:latin typeface="Segoe UI"/>
              </a:defRPr>
            </a:pPr>
            <a:r>
              <a:t>PRODUCT ARCHITECTURE &amp;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C49F"/>
                </a:solidFill>
                <a:latin typeface="Segoe UI"/>
              </a:defRPr>
            </a:pPr>
            <a:r>
              <a:t>45S APP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The 4 Learning Spectrums: Zero Errors, Pure Retention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Orchestrated in a 60-minute build sprint on Amazon Quick &amp; Amazon Bedrock foundation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30368" cy="224028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892808"/>
            <a:ext cx="1645920" cy="27432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b="1" i="0">
                <a:solidFill>
                  <a:srgbClr val="4A8FC2"/>
                </a:solidFill>
                <a:latin typeface="Segoe UI"/>
              </a:defRPr>
            </a:pPr>
            <a:r>
              <a:t>METAPHORICAL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58568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Dorm &amp; Dining Hall Realities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4773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4A8FC2"/>
                </a:solidFill>
                <a:latin typeface="Segoe UI"/>
              </a:defRPr>
            </a:pPr>
            <a:r>
              <a:t>SPECTRUM 1: INTUITIVE ANALOGY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4773168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Translates abstract theory into daily campus navigation. E.g., Dijkstra's shortest path = navigating peak dining hall line rush at Blackburn Center.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5230368" cy="224028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92808"/>
            <a:ext cx="1645920" cy="27432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2024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b="1" i="0">
                <a:solidFill>
                  <a:srgbClr val="A855F7"/>
                </a:solidFill>
                <a:latin typeface="Segoe UI"/>
              </a:defRPr>
            </a:pPr>
            <a:r>
              <a:t>VISUO-SPATIAL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58568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Structural Concept Maps &amp; ASCII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587752"/>
            <a:ext cx="4773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A855F7"/>
                </a:solidFill>
                <a:latin typeface="Segoe UI"/>
              </a:defRPr>
            </a:pPr>
            <a:r>
              <a:t>SPECTRUM 2: VISUAL SCHEMATIC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98648"/>
            <a:ext cx="4773168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Renders execution trees, logical branches, and state machines into structural mental schemas for complex STEM and CS coursework.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60520"/>
            <a:ext cx="5230368" cy="224028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361688"/>
            <a:ext cx="1645920" cy="27432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89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b="1" i="0">
                <a:solidFill>
                  <a:srgbClr val="00C49F"/>
                </a:solidFill>
                <a:latin typeface="Segoe UI"/>
              </a:defRPr>
            </a:pPr>
            <a:r>
              <a:t>KINESTHETIC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27448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Active Retrieval Partner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56632"/>
            <a:ext cx="4773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00C49F"/>
                </a:solidFill>
                <a:latin typeface="Segoe UI"/>
              </a:defRPr>
            </a:pPr>
            <a:r>
              <a:t>SPECTRUM 3: SOCRATIC SPARRING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367528"/>
            <a:ext cx="4773168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Chatbot strictly capped at 2 sentences; never lectures; fires progressive edge cases to force active recall without giving away answers.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160520"/>
            <a:ext cx="5230368" cy="224028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4361688"/>
            <a:ext cx="1645920" cy="274320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389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b="1" i="0">
                <a:solidFill>
                  <a:srgbClr val="F59E0B"/>
                </a:solidFill>
                <a:latin typeface="Segoe UI"/>
              </a:defRPr>
            </a:pPr>
            <a:r>
              <a:t>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727448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4-Slide Micro-Presentation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056632"/>
            <a:ext cx="4773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F59E0B"/>
                </a:solidFill>
                <a:latin typeface="Segoe UI"/>
              </a:defRPr>
            </a:pPr>
            <a:r>
              <a:t>SPECTRUM 4: EXAM TRAP DECK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367528"/>
            <a:ext cx="4773168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0" i="0">
                <a:solidFill>
                  <a:srgbClr val="A0A8B4"/>
                </a:solidFill>
                <a:latin typeface="Segoe UI"/>
              </a:defRPr>
            </a:pPr>
            <a:r>
              <a:t>Distills the topic into 4 high-yield slides exposing the exact trick questions professors test on Midterm #2, paired with AI visual anchors.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78808E"/>
                </a:solidFill>
                <a:latin typeface="Segoe UI"/>
              </a:defRPr>
            </a:pPr>
            <a:r>
              <a:t>PRISMATIC · AWS × MLU FALL SYMPOSIUM 2026 · HOWARD UNIVERSITY &amp; AMAZON HQ2 | 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4A8FC2"/>
                </a:solidFill>
                <a:latin typeface="Segoe UI"/>
              </a:defRPr>
            </a:pPr>
            <a:r>
              <a:t>COMPETITIVE MOAT &amp; STUDENT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C49F"/>
                </a:solidFill>
                <a:latin typeface="Segoe UI"/>
              </a:defRPr>
            </a:pPr>
            <a:r>
              <a:t>25S 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Why Prismatic Wins: The $80/Hour Tutoring Alternative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Comparing modern AI study workflows against passive text dumps and expensive human tutoring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10712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4A8FC2"/>
                </a:solidFill>
                <a:latin typeface="Segoe UI"/>
              </a:defRPr>
            </a:pPr>
            <a:r>
              <a:t>VS. CHATGPT &amp; RAW 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Active Sparring vs. Text Dumps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295351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ChatGPT dumps 800-word walls students glaze over. Prismatic caps replies at 2 sentences and forces active recall.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10712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011680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EF4444"/>
                </a:solidFill>
                <a:latin typeface="Segoe UI"/>
              </a:defRPr>
            </a:pPr>
            <a:r>
              <a:t>VS. $80/HR PRIVATE TUTORING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Democratizing Academic Mastery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926080"/>
            <a:ext cx="295351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Tutors cost $80/hr; office hours are 2 hrs/week. Prismatic gives every student 24/7 adaptive tutoring for pennies.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0712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00C49F"/>
                </a:solidFill>
                <a:latin typeface="Segoe UI"/>
              </a:defRPr>
            </a:pPr>
            <a:r>
              <a:t>VS. STATIC SLIDES &amp; SYLLABI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Dynamic Cognitive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95351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Ends task paralysis for ADHD, visual, and verbal learners with a 30-second diagnostic.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78808E"/>
                </a:solidFill>
                <a:latin typeface="Segoe UI"/>
              </a:defRPr>
            </a:pPr>
            <a:r>
              <a:t>PRISMATIC · AWS × MLU FALL SYMPOSIUM 2026 · HOWARD UNIVERSITY &amp; AMAZON HQ2 | 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4A8FC2"/>
                </a:solidFill>
                <a:latin typeface="Segoe UI"/>
              </a:defRPr>
            </a:pPr>
            <a:r>
              <a:t>CLOSING STATEMENT &amp; EVALUATION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A202E"/>
          </a:solidFill>
          <a:ln w="1270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C49F"/>
                </a:solidFill>
                <a:latin typeface="Segoe UI"/>
              </a:defRPr>
            </a:pPr>
            <a:r>
              <a:t>15S THE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'With More Time We'd Add...' &amp; The Shark Tank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 i="0">
                <a:solidFill>
                  <a:srgbClr val="A0A8B4"/>
                </a:solidFill>
                <a:latin typeface="Segoe UI"/>
              </a:defRPr>
            </a:pPr>
            <a:r>
              <a:t>Meeting 100% of official judging criteria: Creativity, Usefulness, Execution &amp; Teamwork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23744" cy="14173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579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4A8FC2"/>
                </a:solidFill>
                <a:latin typeface="Segoe UI"/>
              </a:defRPr>
            </a:pPr>
            <a:r>
              <a:t>CREATIVITY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21579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0" i="0">
                <a:solidFill>
                  <a:srgbClr val="E8E9EC"/>
                </a:solidFill>
                <a:latin typeface="Segoe UI"/>
              </a:defRPr>
            </a:pPr>
            <a:r>
              <a:t>Cognitive refraction metaphor (white light → spectrums)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91640"/>
            <a:ext cx="2523744" cy="14173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1828800"/>
            <a:ext cx="21579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00C49F"/>
                </a:solidFill>
                <a:latin typeface="Segoe UI"/>
              </a:defRPr>
            </a:pPr>
            <a:r>
              <a:t>USEFULNESS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176272"/>
            <a:ext cx="21579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0" i="0">
                <a:solidFill>
                  <a:srgbClr val="E8E9EC"/>
                </a:solidFill>
                <a:latin typeface="Segoe UI"/>
              </a:defRPr>
            </a:pPr>
            <a:r>
              <a:t>Directly solves dorm paralysis &amp; exam anxiety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91640"/>
            <a:ext cx="2523744" cy="14173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28800"/>
            <a:ext cx="21579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A855F7"/>
                </a:solidFill>
                <a:latin typeface="Segoe UI"/>
              </a:defRPr>
            </a:pPr>
            <a:r>
              <a:t>EXECUTION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176272"/>
            <a:ext cx="21579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0" i="0">
                <a:solidFill>
                  <a:srgbClr val="E8E9EC"/>
                </a:solidFill>
                <a:latin typeface="Segoe UI"/>
              </a:defRPr>
            </a:pPr>
            <a:r>
              <a:t>Working 6-widget pipeline on Amazon Quick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91640"/>
            <a:ext cx="2523744" cy="14173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B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1828800"/>
            <a:ext cx="21579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50" b="1" i="0">
                <a:solidFill>
                  <a:srgbClr val="F59E0B"/>
                </a:solidFill>
                <a:latin typeface="Segoe UI"/>
              </a:defRPr>
            </a:pPr>
            <a:r>
              <a:t>TEAMWORK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6568" y="2176272"/>
            <a:ext cx="21579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0" i="0">
                <a:solidFill>
                  <a:srgbClr val="E8E9EC"/>
                </a:solidFill>
                <a:latin typeface="Segoe UI"/>
              </a:defRPr>
            </a:pPr>
            <a:r>
              <a:t>10 teammates with dedicated active roles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337560"/>
            <a:ext cx="10728655" cy="2971800"/>
          </a:xfrm>
          <a:prstGeom prst="roundRect">
            <a:avLst/>
          </a:prstGeom>
          <a:solidFill>
            <a:srgbClr val="1A202E"/>
          </a:solidFill>
          <a:ln w="15240">
            <a:solidFill>
              <a:srgbClr val="4A8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566160"/>
            <a:ext cx="10058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A8FC2"/>
                </a:solidFill>
                <a:latin typeface="Segoe UI"/>
              </a:defRPr>
            </a:pPr>
            <a:r>
              <a:t>OFFICIAL HANDOUT MANDATE: 'WITH MORE TIME WE'D ADD...'</a:t>
            </a:r>
          </a:p>
          <a:p>
            <a:pPr>
              <a:spcBef>
                <a:spcPts val="600"/>
              </a:spcBef>
              <a:defRPr sz="1300" i="1">
                <a:solidFill>
                  <a:srgbClr val="FFFFFF"/>
                </a:solidFill>
                <a:latin typeface="Segoe UI"/>
              </a:defRPr>
            </a:pPr>
            <a:r>
              <a:t>"With more time, we’d add live Canvas and syllabus LMS integration, automatically syncing weekly exam dates and generating proactive 15-minute micro-sprints before every morning class.</a:t>
            </a:r>
            <a:br/>
            <a:br/>
            <a:r>
              <a:t>We don't just help students pass exams; we eliminate academic paralysis and unlock confidence."</a:t>
            </a:r>
          </a:p>
          <a:p>
            <a:pPr>
              <a:spcBef>
                <a:spcPts val="800"/>
              </a:spcBef>
              <a:defRPr sz="1250" b="1">
                <a:solidFill>
                  <a:srgbClr val="00C49F"/>
                </a:solidFill>
                <a:latin typeface="Segoe UI"/>
              </a:defRPr>
            </a:pPr>
            <a:r>
              <a:t>WE ARE PRISMATIC — REFRACTING COMPLEX KNOWLEDGE INTO YOUR NATIVE SPECTRUM. VOTE PRISMATIC!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78808E"/>
                </a:solidFill>
                <a:latin typeface="Segoe UI"/>
              </a:defRPr>
            </a:pPr>
            <a:r>
              <a:t>PRISMATIC · AWS × MLU FALL SYMPOSIUM 2026 · HOWARD UNIVERSITY &amp; AMAZON HQ2 | 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