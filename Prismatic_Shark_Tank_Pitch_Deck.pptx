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OFFICIAL TIMED SCRIPT (0:00 - 0:35):</a:t>
            </a:r>
          </a:p>
          <a:p/>
          <a:p>
            <a:r>
              <a:t>[0:00 - 0:10] SEGMENT 1: TEAM NAME (10s)</a:t>
            </a:r>
          </a:p>
          <a:p>
            <a:r>
              <a:t>"Good afternoon, judges and fellow builders! We are PRISMATIC—and we are here to refract the way college students learn!"</a:t>
            </a:r>
          </a:p>
          <a:p/>
          <a:p>
            <a:r>
              <a:t>[0:10 - 0:35] SEGMENT 2: THE HOOK (25s)</a:t>
            </a:r>
          </a:p>
          <a:p>
            <a:r>
              <a:t>"Picture a 300-person lecture hall right here at Howard or UMD. The professor spends 75 minutes covering one complex concept. Half the class nods; the other half walks out completely lost with intense brain fog.</a:t>
            </a:r>
          </a:p>
          <a:p>
            <a:r>
              <a:t>The problem isn't student intellect. White light contains every color, but a flat chalkboard only projects one shade. Professors teach in one rigid format, while human brains process knowledge in completely different spectrums."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OFFICIAL TIMED SCRIPT (0:35 - 1:20):</a:t>
            </a:r>
          </a:p>
          <a:p/>
          <a:p>
            <a:r>
              <a:t>[0:35 - 1:20] SEGMENT 3: YOUR APP (45s)</a:t>
            </a:r>
          </a:p>
          <a:p>
            <a:r>
              <a:t>"We built Prismatic on Amazon Quick—an agentic cognitive engine that turns 1 static lecture into 4 tailored learning modalities in under 30 seconds.</a:t>
            </a:r>
          </a:p>
          <a:p>
            <a:r>
              <a:t>First, a rapid 5-question diagnostic maps how your brain absorbs information. Then, our Amazon Bedrock pipeline instantly refracts the material:</a:t>
            </a:r>
          </a:p>
          <a:p>
            <a:r>
              <a:t>- Spectrum 1 translates abstract theory into relatable dorm and dining hall analogies.</a:t>
            </a:r>
          </a:p>
          <a:p>
            <a:r>
              <a:t>- Spectrum 2 renders structural ASCII concept maps.</a:t>
            </a:r>
          </a:p>
          <a:p>
            <a:r>
              <a:t>- Spectrum 3 launches a Socratic Sparring Partner that quizzes you one edge-case at a time without spoiling answers.</a:t>
            </a:r>
          </a:p>
          <a:p>
            <a:r>
              <a:t>- And Spectrum 4 builds a 4-slide micro-deck exposing the exact trap questions professors test on midterms."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OFFICIAL TIMED SCRIPT (1:20 - 1:45):</a:t>
            </a:r>
          </a:p>
          <a:p/>
          <a:p>
            <a:r>
              <a:t>[1:20 - 1:45] SEGMENT 4: WHY IT WINS (25s)</a:t>
            </a:r>
          </a:p>
          <a:p>
            <a:r>
              <a:t>"Over 20 million college students face academic paralysis every semester.</a:t>
            </a:r>
          </a:p>
          <a:p>
            <a:r>
              <a:t>Generic tools like ChatGPT just dump dry walls of text that students glaze over.</a:t>
            </a:r>
          </a:p>
          <a:p>
            <a:r>
              <a:t>Private tutoring costs $80 an hour, and professor office hours are only 2 hours a week.</a:t>
            </a:r>
          </a:p>
          <a:p>
            <a:r>
              <a:t>Prismatic is active, multi-modal, and adapts the syllabus to the student—democratizing elite private tutoring for pennies."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OFFICIAL TIMED SCRIPT (1:45 - 2:00):</a:t>
            </a:r>
          </a:p>
          <a:p/>
          <a:p>
            <a:r>
              <a:t>[1:45 - 2:00] SEGMENT 5: THE CLOSE (15s)</a:t>
            </a:r>
          </a:p>
          <a:p>
            <a:r>
              <a:t>"With more time, we’d add live Canvas and syllabus LMS integration, automatically syncing weekly exam dates and generating proactive 15-minute micro-sprints before every morning class.</a:t>
            </a:r>
          </a:p>
          <a:p>
            <a:r>
              <a:t>We are PRISMATIC—refracting complex knowledge into your native spectrum.</a:t>
            </a:r>
          </a:p>
          <a:p>
            <a:r>
              <a:t>Vote Prismatic for your room champion! Thank you!"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6304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304" y="0"/>
            <a:ext cx="6095390" cy="54864"/>
          </a:xfrm>
          <a:prstGeom prst="rect">
            <a:avLst/>
          </a:prstGeom>
          <a:solidFill>
            <a:srgbClr val="B4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594360"/>
            <a:ext cx="5120640" cy="384048"/>
          </a:xfrm>
          <a:prstGeom prst="roundRect">
            <a:avLst>
              <a:gd name="adj" fmla="val 8000"/>
            </a:avLst>
          </a:prstGeom>
          <a:solidFill>
            <a:srgbClr val="161E30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"/>
            <a:ext cx="4937760" cy="292608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050" b="1" i="0">
                <a:solidFill>
                  <a:srgbClr val="00E5FF"/>
                </a:solidFill>
                <a:latin typeface="Segoe UI"/>
              </a:defRPr>
            </a:pPr>
            <a:r>
              <a:t>CLOUD CONNECT 2026 · AWS × MLU × BEN TECH · HOWARD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15568"/>
            <a:ext cx="7772400" cy="1371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defRPr sz="4800" b="1">
                <a:solidFill>
                  <a:srgbClr val="FFFFFF"/>
                </a:solidFill>
                <a:latin typeface="Segoe UI"/>
              </a:defRPr>
            </a:pPr>
            <a:r>
              <a:t>PRISMATIC</a:t>
            </a:r>
          </a:p>
          <a:p>
            <a:pPr>
              <a:defRPr sz="1900">
                <a:solidFill>
                  <a:srgbClr val="B464FF"/>
                </a:solidFill>
                <a:latin typeface="Segoe UI"/>
              </a:defRPr>
            </a:pPr>
            <a:r>
              <a:t>Refracting Complex Knowledge Into Your Mind's Native Spectrum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594360"/>
            <a:ext cx="2499055" cy="1920240"/>
          </a:xfrm>
          <a:prstGeom prst="roundRect">
            <a:avLst>
              <a:gd name="adj" fmla="val 8000"/>
            </a:avLst>
          </a:prstGeom>
          <a:solidFill>
            <a:srgbClr val="101622"/>
          </a:solidFill>
          <a:ln w="12700">
            <a:solidFill>
              <a:srgbClr val="20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ismatic_github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713232"/>
            <a:ext cx="1097280" cy="1097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332720" y="749808"/>
            <a:ext cx="1051560" cy="109728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defRPr sz="1000" b="1">
                <a:solidFill>
                  <a:srgbClr val="00E5FF"/>
                </a:solidFill>
                <a:latin typeface="Segoe UI"/>
              </a:defRPr>
            </a:pPr>
            <a:r>
              <a:t>SCAN TO VIEW</a:t>
            </a:r>
          </a:p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Live GitHub repo, prompts, and Quick specs.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97480"/>
            <a:ext cx="3383280" cy="3749039"/>
          </a:xfrm>
          <a:prstGeom prst="roundRect">
            <a:avLst>
              <a:gd name="adj" fmla="val 8000"/>
            </a:avLst>
          </a:prstGeom>
          <a:solidFill>
            <a:srgbClr val="101622"/>
          </a:solidFill>
          <a:ln w="1778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5840" y="3017520"/>
            <a:ext cx="2011680" cy="292608"/>
          </a:xfrm>
          <a:prstGeom prst="roundRect">
            <a:avLst>
              <a:gd name="adj" fmla="val 8000"/>
            </a:avLst>
          </a:prstGeom>
          <a:solidFill>
            <a:srgbClr val="161E30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54096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050" b="1" i="0">
                <a:solidFill>
                  <a:srgbClr val="00E5FF"/>
                </a:solidFill>
                <a:latin typeface="Segoe UI"/>
              </a:defRPr>
            </a:pPr>
            <a:r>
              <a:t>TEAM ENERGY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47472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200" b="1" i="0">
                <a:solidFill>
                  <a:srgbClr val="00E5FF"/>
                </a:solidFill>
                <a:latin typeface="Segoe UI"/>
              </a:defRPr>
            </a:pPr>
            <a:r>
              <a:t>SEGMENT 1: 10 SECONDS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4048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500" b="1" i="0">
                <a:solidFill>
                  <a:srgbClr val="FFFFFF"/>
                </a:solidFill>
                <a:latin typeface="Segoe UI"/>
              </a:defRPr>
            </a:pPr>
            <a:r>
              <a:t>High-Energy Intro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20"/>
            <a:ext cx="2834640" cy="1828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200" b="0" i="0">
                <a:solidFill>
                  <a:srgbClr val="94A3B8"/>
                </a:solidFill>
                <a:latin typeface="Segoe UI"/>
              </a:defRPr>
            </a:pPr>
            <a:r>
              <a:t>We are Prismatic — 10 builders solving college cognitive overload.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2697480"/>
            <a:ext cx="3383280" cy="3749039"/>
          </a:xfrm>
          <a:prstGeom prst="roundRect">
            <a:avLst>
              <a:gd name="adj" fmla="val 8000"/>
            </a:avLst>
          </a:prstGeom>
          <a:solidFill>
            <a:srgbClr val="101622"/>
          </a:solidFill>
          <a:ln w="12700">
            <a:solidFill>
              <a:srgbClr val="20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63440" y="3017520"/>
            <a:ext cx="2011680" cy="292608"/>
          </a:xfrm>
          <a:prstGeom prst="roundRect">
            <a:avLst>
              <a:gd name="adj" fmla="val 8000"/>
            </a:avLst>
          </a:prstGeom>
          <a:solidFill>
            <a:srgbClr val="161E30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9160" y="3054096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050" b="1" i="0">
                <a:solidFill>
                  <a:srgbClr val="FF6B6B"/>
                </a:solidFill>
                <a:latin typeface="Segoe UI"/>
              </a:defRPr>
            </a:pPr>
            <a:r>
              <a:t>THE CRISIS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47472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200" b="1" i="0">
                <a:solidFill>
                  <a:srgbClr val="FF6B6B"/>
                </a:solidFill>
                <a:latin typeface="Segoe UI"/>
              </a:defRPr>
            </a:pPr>
            <a:r>
              <a:t>SEGMENT 2: 25 SECONDS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84048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500" b="1" i="0">
                <a:solidFill>
                  <a:srgbClr val="FFFFFF"/>
                </a:solidFill>
                <a:latin typeface="Segoe UI"/>
              </a:defRPr>
            </a:pPr>
            <a:r>
              <a:t>The 300-Student Hook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4389120"/>
            <a:ext cx="2834640" cy="1828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200" b="0" i="0">
                <a:solidFill>
                  <a:srgbClr val="94A3B8"/>
                </a:solidFill>
                <a:latin typeface="Segoe UI"/>
              </a:defRPr>
            </a:pPr>
            <a:r>
              <a:t>1 professor. 300 students. 1 static format. White light has every color, but lectures project only one shade.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2697480"/>
            <a:ext cx="3383280" cy="3749039"/>
          </a:xfrm>
          <a:prstGeom prst="roundRect">
            <a:avLst>
              <a:gd name="adj" fmla="val 8000"/>
            </a:avLst>
          </a:prstGeom>
          <a:solidFill>
            <a:srgbClr val="101622"/>
          </a:solidFill>
          <a:ln w="1778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21040" y="3017520"/>
            <a:ext cx="2011680" cy="292608"/>
          </a:xfrm>
          <a:prstGeom prst="roundRect">
            <a:avLst>
              <a:gd name="adj" fmla="val 8000"/>
            </a:avLst>
          </a:prstGeom>
          <a:solidFill>
            <a:srgbClr val="161E3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3054096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050" b="1" i="0">
                <a:solidFill>
                  <a:srgbClr val="34D399"/>
                </a:solidFill>
                <a:latin typeface="Segoe UI"/>
              </a:defRPr>
            </a:pPr>
            <a:r>
              <a:t>THE CORE MISSION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47472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200" b="1" i="0">
                <a:solidFill>
                  <a:srgbClr val="34D399"/>
                </a:solidFill>
                <a:latin typeface="Segoe UI"/>
              </a:defRPr>
            </a:pPr>
            <a:r>
              <a:t>THE EMOTIONAL TRUTH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84048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500" b="1" i="0">
                <a:solidFill>
                  <a:srgbClr val="FFFFFF"/>
                </a:solidFill>
                <a:latin typeface="Segoe UI"/>
              </a:defRPr>
            </a:pPr>
            <a:r>
              <a:t>Cognitive Mismatch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389120"/>
            <a:ext cx="2834640" cy="1828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200" b="0" i="0">
                <a:solidFill>
                  <a:srgbClr val="94A3B8"/>
                </a:solidFill>
                <a:latin typeface="Segoe UI"/>
              </a:defRPr>
            </a:pPr>
            <a:r>
              <a:t>Students don't freeze from lack of intelligence; they freeze when raw syllabus format clashes with their brain.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73952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CLOUD CONNECT 2026  •  PRISMATIC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739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Segoe UI"/>
              </a:defRPr>
            </a:pPr>
            <a: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6304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304" y="0"/>
            <a:ext cx="6095390" cy="54864"/>
          </a:xfrm>
          <a:prstGeom prst="rect">
            <a:avLst/>
          </a:prstGeom>
          <a:solidFill>
            <a:srgbClr val="B4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100" b="1" i="0">
                <a:solidFill>
                  <a:srgbClr val="00E5FF"/>
                </a:solidFill>
                <a:latin typeface="Segoe UI"/>
              </a:defRPr>
            </a:pPr>
            <a:r>
              <a:t>SEGMENT 3: APP OVERVIEW (45S)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48495" y="320040"/>
            <a:ext cx="2011680" cy="347472"/>
          </a:xfrm>
          <a:prstGeom prst="roundRect">
            <a:avLst>
              <a:gd name="adj" fmla="val 8000"/>
            </a:avLst>
          </a:prstGeom>
          <a:solidFill>
            <a:srgbClr val="161E30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rmAutofit/>
          </a:bodyPr>
          <a:lstStyle/>
          <a:p>
            <a:pPr algn="ctr">
              <a:defRPr sz="1000" b="1">
                <a:solidFill>
                  <a:srgbClr val="00E5FF"/>
                </a:solidFill>
                <a:latin typeface="Segoe UI"/>
              </a:defRPr>
            </a:pPr>
            <a:r>
              <a:t>45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2300" b="1" i="0">
                <a:solidFill>
                  <a:srgbClr val="FFFFFF"/>
                </a:solidFill>
                <a:latin typeface="Segoe UI"/>
              </a:defRPr>
            </a:pPr>
            <a:r>
              <a:t>The 4 Refracted Learning Spectrums: Zero Errors, Pure Retention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1887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050" b="0" i="0">
                <a:solidFill>
                  <a:srgbClr val="94A3B8"/>
                </a:solidFill>
                <a:latin typeface="Segoe UI"/>
              </a:defRPr>
            </a:pPr>
            <a:r>
              <a:t>A pipelined architecture orchestrated in 60 minutes on Amazon Quick &amp; Amazon Bedrock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240280"/>
          </a:xfrm>
          <a:prstGeom prst="roundRect">
            <a:avLst>
              <a:gd name="adj" fmla="val 8000"/>
            </a:avLst>
          </a:prstGeom>
          <a:solidFill>
            <a:srgbClr val="101622"/>
          </a:solidFill>
          <a:ln w="1651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" y="1874520"/>
            <a:ext cx="1645920" cy="256032"/>
          </a:xfrm>
          <a:prstGeom prst="roundRect">
            <a:avLst>
              <a:gd name="adj" fmla="val 8000"/>
            </a:avLst>
          </a:prstGeom>
          <a:solidFill>
            <a:srgbClr val="161E30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92808"/>
            <a:ext cx="1609344" cy="228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>
              <a:defRPr sz="1050" b="1" i="0">
                <a:solidFill>
                  <a:srgbClr val="00E5FF"/>
                </a:solidFill>
                <a:latin typeface="Segoe UI"/>
              </a:defRPr>
            </a:pPr>
            <a:r>
              <a:t>METAPHORICAL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240280"/>
            <a:ext cx="4700016" cy="41148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450" b="1" i="0">
                <a:solidFill>
                  <a:srgbClr val="FFFFFF"/>
                </a:solidFill>
                <a:latin typeface="Segoe UI"/>
              </a:defRPr>
            </a:pPr>
            <a:r>
              <a:t>Dorm &amp; Dining Hall Metaphors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606040"/>
            <a:ext cx="4700016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050" b="1" i="0">
                <a:solidFill>
                  <a:srgbClr val="00E5FF"/>
                </a:solidFill>
                <a:latin typeface="Segoe UI"/>
              </a:defRPr>
            </a:pPr>
            <a:r>
              <a:t>SPECTRUM 1: ANALOGY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2926080"/>
            <a:ext cx="4700016" cy="86868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100" b="0" i="0">
                <a:solidFill>
                  <a:srgbClr val="94A3B8"/>
                </a:solidFill>
                <a:latin typeface="Segoe UI"/>
              </a:defRPr>
            </a:pPr>
            <a:r>
              <a:t>Translates abstract theory into daily campus reality. E.g., Dijkstra's shortest path = navigating peak dining hall line rush.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5212080" cy="2240280"/>
          </a:xfrm>
          <a:prstGeom prst="roundRect">
            <a:avLst>
              <a:gd name="adj" fmla="val 8000"/>
            </a:avLst>
          </a:prstGeom>
          <a:solidFill>
            <a:srgbClr val="101622"/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2" y="1874520"/>
            <a:ext cx="1645920" cy="256032"/>
          </a:xfrm>
          <a:prstGeom prst="roundRect">
            <a:avLst>
              <a:gd name="adj" fmla="val 8000"/>
            </a:avLst>
          </a:prstGeom>
          <a:solidFill>
            <a:srgbClr val="161E30"/>
          </a:solidFill>
          <a:ln w="12700">
            <a:solidFill>
              <a:srgbClr val="B4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892808"/>
            <a:ext cx="1609344" cy="228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>
              <a:defRPr sz="1050" b="1" i="0">
                <a:solidFill>
                  <a:srgbClr val="B464FF"/>
                </a:solidFill>
                <a:latin typeface="Segoe UI"/>
              </a:defRPr>
            </a:pPr>
            <a:r>
              <a:t>SCHEMATIC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240280"/>
            <a:ext cx="4700016" cy="41148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450" b="1" i="0">
                <a:solidFill>
                  <a:srgbClr val="FFFFFF"/>
                </a:solidFill>
                <a:latin typeface="Segoe UI"/>
              </a:defRPr>
            </a:pPr>
            <a:r>
              <a:t>ASCII &amp; Schematic Blueprints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2606040"/>
            <a:ext cx="4700016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050" b="1" i="0">
                <a:solidFill>
                  <a:srgbClr val="B464FF"/>
                </a:solidFill>
                <a:latin typeface="Segoe UI"/>
              </a:defRPr>
            </a:pPr>
            <a:r>
              <a:t>SPECTRUM 2: VISUAL MAP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2926080"/>
            <a:ext cx="4700016" cy="86868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100" b="0" i="0">
                <a:solidFill>
                  <a:srgbClr val="94A3B8"/>
                </a:solidFill>
                <a:latin typeface="Segoe UI"/>
              </a:defRPr>
            </a:pPr>
            <a:r>
              <a:t>Renders execution trees, logical branches, and state machines into structural mental schemas for STEM/CS.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142232"/>
            <a:ext cx="5212080" cy="2240280"/>
          </a:xfrm>
          <a:prstGeom prst="roundRect">
            <a:avLst>
              <a:gd name="adj" fmla="val 8000"/>
            </a:avLst>
          </a:prstGeom>
          <a:solidFill>
            <a:srgbClr val="101622"/>
          </a:solidFill>
          <a:ln w="1651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87552" y="4370832"/>
            <a:ext cx="1645920" cy="256032"/>
          </a:xfrm>
          <a:prstGeom prst="roundRect">
            <a:avLst>
              <a:gd name="adj" fmla="val 8000"/>
            </a:avLst>
          </a:prstGeom>
          <a:solidFill>
            <a:srgbClr val="161E3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389120"/>
            <a:ext cx="1609344" cy="228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>
              <a:defRPr sz="1050" b="1" i="0">
                <a:solidFill>
                  <a:srgbClr val="34D399"/>
                </a:solidFill>
                <a:latin typeface="Segoe UI"/>
              </a:defRPr>
            </a:pPr>
            <a:r>
              <a:t>KINESTHETIC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736592"/>
            <a:ext cx="4700016" cy="41148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450" b="1" i="0">
                <a:solidFill>
                  <a:srgbClr val="FFFFFF"/>
                </a:solidFill>
                <a:latin typeface="Segoe UI"/>
              </a:defRPr>
            </a:pPr>
            <a:r>
              <a:t>Active Retrieval 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5102352"/>
            <a:ext cx="4700016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050" b="1" i="0">
                <a:solidFill>
                  <a:srgbClr val="34D399"/>
                </a:solidFill>
                <a:latin typeface="Segoe UI"/>
              </a:defRPr>
            </a:pPr>
            <a:r>
              <a:t>SPECTRUM 3: SOCRATIC SPARRING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5422392"/>
            <a:ext cx="4700016" cy="86868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100" b="0" i="0">
                <a:solidFill>
                  <a:srgbClr val="94A3B8"/>
                </a:solidFill>
                <a:latin typeface="Segoe UI"/>
              </a:defRPr>
            </a:pPr>
            <a:r>
              <a:t>Chatbot strictly capped at 2 sentences; never lectures; fires progressive edge cases to force active recall.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4142232"/>
            <a:ext cx="5212080" cy="2240280"/>
          </a:xfrm>
          <a:prstGeom prst="roundRect">
            <a:avLst>
              <a:gd name="adj" fmla="val 8000"/>
            </a:avLst>
          </a:prstGeom>
          <a:solidFill>
            <a:srgbClr val="101622"/>
          </a:solidFill>
          <a:ln w="16510">
            <a:solidFill>
              <a:srgbClr val="20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73952" y="4370832"/>
            <a:ext cx="1645920" cy="256032"/>
          </a:xfrm>
          <a:prstGeom prst="roundRect">
            <a:avLst>
              <a:gd name="adj" fmla="val 8000"/>
            </a:avLst>
          </a:prstGeom>
          <a:solidFill>
            <a:srgbClr val="161E30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389120"/>
            <a:ext cx="1609344" cy="228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>
              <a:defRPr sz="1050" b="1" i="0">
                <a:solidFill>
                  <a:srgbClr val="FBBF24"/>
                </a:solidFill>
                <a:latin typeface="Segoe UI"/>
              </a:defRPr>
            </a:pPr>
            <a:r>
              <a:t>SYNTHESIS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4736592"/>
            <a:ext cx="4700016" cy="41148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450" b="1" i="0">
                <a:solidFill>
                  <a:srgbClr val="FFFFFF"/>
                </a:solidFill>
                <a:latin typeface="Segoe UI"/>
              </a:defRPr>
            </a:pPr>
            <a:r>
              <a:t>4-Slide Micro-Presentation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3952" y="5102352"/>
            <a:ext cx="4700016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050" b="1" i="0">
                <a:solidFill>
                  <a:srgbClr val="FBBF24"/>
                </a:solidFill>
                <a:latin typeface="Segoe UI"/>
              </a:defRPr>
            </a:pPr>
            <a:r>
              <a:t>SPECTRUM 4: EXAM TRAP DECK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952" y="5422392"/>
            <a:ext cx="4700016" cy="86868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100" b="0" i="0">
                <a:solidFill>
                  <a:srgbClr val="94A3B8"/>
                </a:solidFill>
                <a:latin typeface="Segoe UI"/>
              </a:defRPr>
            </a:pPr>
            <a:r>
              <a:t>Exposes the exact trick questions professors test on Midterm #2, coupled with an AI visual memory anchor.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473952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CLOUD CONNECT 2026  •  PRISMATIC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739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Segoe UI"/>
              </a:defRPr>
            </a:pPr>
            <a: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6304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304" y="0"/>
            <a:ext cx="6095390" cy="54864"/>
          </a:xfrm>
          <a:prstGeom prst="rect">
            <a:avLst/>
          </a:prstGeom>
          <a:solidFill>
            <a:srgbClr val="B4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100" b="1" i="0">
                <a:solidFill>
                  <a:srgbClr val="00E5FF"/>
                </a:solidFill>
                <a:latin typeface="Segoe UI"/>
              </a:defRPr>
            </a:pPr>
            <a:r>
              <a:t>SEGMENT 4: WHY IT WINS (25S)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48495" y="320040"/>
            <a:ext cx="2011680" cy="347472"/>
          </a:xfrm>
          <a:prstGeom prst="roundRect">
            <a:avLst>
              <a:gd name="adj" fmla="val 8000"/>
            </a:avLst>
          </a:prstGeom>
          <a:solidFill>
            <a:srgbClr val="161E30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rmAutofit/>
          </a:bodyPr>
          <a:lstStyle/>
          <a:p>
            <a:pPr algn="ctr">
              <a:defRPr sz="1000" b="1">
                <a:solidFill>
                  <a:srgbClr val="00E5FF"/>
                </a:solidFill>
                <a:latin typeface="Segoe UI"/>
              </a:defRPr>
            </a:pPr>
            <a:r>
              <a:t>25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2300" b="1" i="0">
                <a:solidFill>
                  <a:srgbClr val="FFFFFF"/>
                </a:solidFill>
                <a:latin typeface="Segoe UI"/>
              </a:defRPr>
            </a:pPr>
            <a:r>
              <a:t>The Unfair Advantage: Why Prismatic Destroys Generic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1887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050" b="0" i="0">
                <a:solidFill>
                  <a:srgbClr val="94A3B8"/>
                </a:solidFill>
                <a:latin typeface="Segoe UI"/>
              </a:defRPr>
            </a:pPr>
            <a:r>
              <a:t>Who uses this, and why is it exponentially better than everything on the market?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383280" cy="4480560"/>
          </a:xfrm>
          <a:prstGeom prst="roundRect">
            <a:avLst>
              <a:gd name="adj" fmla="val 8000"/>
            </a:avLst>
          </a:prstGeom>
          <a:solidFill>
            <a:srgbClr val="101622"/>
          </a:solidFill>
          <a:ln w="1651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0116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200" b="1" i="0">
                <a:solidFill>
                  <a:srgbClr val="00E5FF"/>
                </a:solidFill>
                <a:latin typeface="Segoe UI"/>
              </a:defRPr>
            </a:pPr>
            <a:r>
              <a:t>VS. CHATGPT / LLMS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2316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Segoe UI"/>
              </a:defRPr>
            </a:pPr>
            <a:r>
              <a:t>Active Sparring vs. Passive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17520"/>
            <a:ext cx="2834640" cy="26517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200" b="0" i="0">
                <a:solidFill>
                  <a:srgbClr val="94A3B8"/>
                </a:solidFill>
                <a:latin typeface="Segoe UI"/>
              </a:defRPr>
            </a:pPr>
            <a:r>
              <a:t>ChatGPT dumps 800-word walls of text that cause immediate student eye glaze. Prismatic bounds answers to 2 sentences and forces active retrieval.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645920"/>
            <a:ext cx="3383280" cy="4480560"/>
          </a:xfrm>
          <a:prstGeom prst="roundRect">
            <a:avLst>
              <a:gd name="adj" fmla="val 8000"/>
            </a:avLst>
          </a:prstGeom>
          <a:solidFill>
            <a:srgbClr val="101622"/>
          </a:solidFill>
          <a:ln w="16510">
            <a:solidFill>
              <a:srgbClr val="20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0116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200" b="1" i="0">
                <a:solidFill>
                  <a:srgbClr val="FF6B6B"/>
                </a:solidFill>
                <a:latin typeface="Segoe UI"/>
              </a:defRPr>
            </a:pPr>
            <a:r>
              <a:t>VS. $80/HR TUTORING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42316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Segoe UI"/>
              </a:defRPr>
            </a:pPr>
            <a:r>
              <a:t>Zero Financial Gatekeeping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017520"/>
            <a:ext cx="2834640" cy="26517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200" b="0" i="0">
                <a:solidFill>
                  <a:srgbClr val="94A3B8"/>
                </a:solidFill>
                <a:latin typeface="Segoe UI"/>
              </a:defRPr>
            </a:pPr>
            <a:r>
              <a:t>Private tutors cost $80/hr; university office hours are 2 hours a week. Prismatic gives every student 24/7 elite adaptive tutoring for pennies on Bedrock.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645920"/>
            <a:ext cx="3383280" cy="4480560"/>
          </a:xfrm>
          <a:prstGeom prst="roundRect">
            <a:avLst>
              <a:gd name="adj" fmla="val 8000"/>
            </a:avLst>
          </a:prstGeom>
          <a:solidFill>
            <a:srgbClr val="101622"/>
          </a:solidFill>
          <a:ln w="1651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0116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200" b="1" i="0">
                <a:solidFill>
                  <a:srgbClr val="34D399"/>
                </a:solidFill>
                <a:latin typeface="Segoe UI"/>
              </a:defRPr>
            </a:pPr>
            <a:r>
              <a:t>VS. STATIC SLIDES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42316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Segoe UI"/>
              </a:defRPr>
            </a:pPr>
            <a:r>
              <a:t>Dynamic Cognitive Fit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017520"/>
            <a:ext cx="2834640" cy="26517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200" b="0" i="0">
                <a:solidFill>
                  <a:srgbClr val="94A3B8"/>
                </a:solidFill>
                <a:latin typeface="Segoe UI"/>
              </a:defRPr>
            </a:pPr>
            <a:r>
              <a:t>Eliminates task paralysis for ADHD, visual, and conceptual learners through a 30-second diagnostic triage.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73952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CLOUD CONNECT 2026  •  PRISMATIC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739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Segoe UI"/>
              </a:defRPr>
            </a:pPr>
            <a: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6304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304" y="0"/>
            <a:ext cx="6095390" cy="54864"/>
          </a:xfrm>
          <a:prstGeom prst="rect">
            <a:avLst/>
          </a:prstGeom>
          <a:solidFill>
            <a:srgbClr val="B4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100" b="1" i="0">
                <a:solidFill>
                  <a:srgbClr val="00E5FF"/>
                </a:solidFill>
                <a:latin typeface="Segoe UI"/>
              </a:defRPr>
            </a:pPr>
            <a:r>
              <a:t>SEGMENT 5: THE CLOSE (15S)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48495" y="320040"/>
            <a:ext cx="2011680" cy="347472"/>
          </a:xfrm>
          <a:prstGeom prst="roundRect">
            <a:avLst>
              <a:gd name="adj" fmla="val 8000"/>
            </a:avLst>
          </a:prstGeom>
          <a:solidFill>
            <a:srgbClr val="161E30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rmAutofit/>
          </a:bodyPr>
          <a:lstStyle/>
          <a:p>
            <a:pPr algn="ctr">
              <a:defRPr sz="1000" b="1">
                <a:solidFill>
                  <a:srgbClr val="00E5FF"/>
                </a:solidFill>
                <a:latin typeface="Segoe UI"/>
              </a:defRPr>
            </a:pPr>
            <a:r>
              <a:t>15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2300" b="1" i="0">
                <a:solidFill>
                  <a:srgbClr val="FFFFFF"/>
                </a:solidFill>
                <a:latin typeface="Segoe UI"/>
              </a:defRPr>
            </a:pPr>
            <a:r>
              <a:t>'With More Time We'd Add...' &amp; The Shark Tank Verdict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1887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050" b="0" i="0">
                <a:solidFill>
                  <a:srgbClr val="94A3B8"/>
                </a:solidFill>
                <a:latin typeface="Segoe UI"/>
              </a:defRPr>
            </a:pPr>
            <a:r>
              <a:t>Scoring 100% across the 4 official Shark metrics: Creativity, Usefulness, Execution &amp; Teamwork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101622"/>
          </a:solidFill>
          <a:ln w="12700">
            <a:solidFill>
              <a:srgbClr val="20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830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200" b="1" i="0">
                <a:solidFill>
                  <a:srgbClr val="00E5FF"/>
                </a:solidFill>
                <a:latin typeface="Segoe UI"/>
              </a:defRPr>
            </a:pPr>
            <a:r>
              <a:t>CREATIVITY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48840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050" b="0" i="0">
                <a:solidFill>
                  <a:srgbClr val="F1F5F9"/>
                </a:solidFill>
                <a:latin typeface="Segoe UI"/>
              </a:defRPr>
            </a:pPr>
            <a:r>
              <a:t>Fresh cognitive refraction metaphor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64592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101622"/>
          </a:solidFill>
          <a:ln w="12700">
            <a:solidFill>
              <a:srgbClr val="20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7830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200" b="1" i="0">
                <a:solidFill>
                  <a:srgbClr val="34D399"/>
                </a:solidFill>
                <a:latin typeface="Segoe UI"/>
              </a:defRPr>
            </a:pPr>
            <a:r>
              <a:t>USEFULNESS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148840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050" b="0" i="0">
                <a:solidFill>
                  <a:srgbClr val="F1F5F9"/>
                </a:solidFill>
                <a:latin typeface="Segoe UI"/>
              </a:defRPr>
            </a:pPr>
            <a:r>
              <a:t>Solves dorm paralysis &amp; exam panic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101622"/>
          </a:solidFill>
          <a:ln w="12700">
            <a:solidFill>
              <a:srgbClr val="20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7830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200" b="1" i="0">
                <a:solidFill>
                  <a:srgbClr val="B464FF"/>
                </a:solidFill>
                <a:latin typeface="Segoe UI"/>
              </a:defRPr>
            </a:pPr>
            <a:r>
              <a:t>EXECUTION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148840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050" b="0" i="0">
                <a:solidFill>
                  <a:srgbClr val="F1F5F9"/>
                </a:solidFill>
                <a:latin typeface="Segoe UI"/>
              </a:defRPr>
            </a:pPr>
            <a:r>
              <a:t>6-widget pipeline on Amazon Quick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64592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101622"/>
          </a:solidFill>
          <a:ln w="12700">
            <a:solidFill>
              <a:srgbClr val="20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17830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200" b="1" i="0">
                <a:solidFill>
                  <a:srgbClr val="FBBF24"/>
                </a:solidFill>
                <a:latin typeface="Segoe UI"/>
              </a:defRPr>
            </a:pPr>
            <a:r>
              <a:t>TEAMWORK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148840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defRPr sz="1050" b="0" i="0">
                <a:solidFill>
                  <a:srgbClr val="F1F5F9"/>
                </a:solidFill>
                <a:latin typeface="Segoe UI"/>
              </a:defRPr>
            </a:pPr>
            <a:r>
              <a:t>10 teammates with active stage roles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291840"/>
            <a:ext cx="10728655" cy="3017520"/>
          </a:xfrm>
          <a:prstGeom prst="roundRect">
            <a:avLst>
              <a:gd name="adj" fmla="val 8000"/>
            </a:avLst>
          </a:prstGeom>
          <a:solidFill>
            <a:srgbClr val="101622"/>
          </a:solidFill>
          <a:ln w="2032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520440"/>
            <a:ext cx="9966960" cy="2560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 b="1">
                <a:solidFill>
                  <a:srgbClr val="00E5FF"/>
                </a:solidFill>
                <a:latin typeface="Segoe UI"/>
              </a:defRPr>
            </a:pPr>
            <a:r>
              <a:t>OFFICIAL HANDOUT MANDATE: 'WITH MORE TIME WE'D ADD...'</a:t>
            </a:r>
          </a:p>
          <a:p>
            <a:pPr>
              <a:defRPr sz="1350" i="1">
                <a:solidFill>
                  <a:srgbClr val="FFFFFF"/>
                </a:solidFill>
                <a:latin typeface="Segoe UI"/>
              </a:defRPr>
            </a:pPr>
            <a:r>
              <a:t>"With more time, we’d add live Canvas and syllabus LMS integration, automatically syncing weekly exam dates and generating proactive 15-minute micro-sprints before every morning class.</a:t>
            </a:r>
            <a:br/>
            <a:br/>
            <a:r>
              <a:t>We don't just help students pass exams; we eliminate academic paralysis and unlock confidence."</a:t>
            </a:r>
          </a:p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WE ARE PRISMATIC — REFRACTING COMPLEX KNOWLEDGE INTO YOUR NATIVE SPECTRUM. VOTE PRISMATIC!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73952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CLOUD CONNECT 2026  •  PRISMATIC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739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>
                <a:solidFill>
                  <a:srgbClr val="64748B"/>
                </a:solidFill>
                <a:latin typeface="Segoe UI"/>
              </a:defRPr>
            </a:pPr>
            <a: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