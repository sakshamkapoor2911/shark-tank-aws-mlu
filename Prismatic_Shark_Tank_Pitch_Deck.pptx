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TIMED SCRIPT (0:00 - 0:35):</a:t>
            </a:r>
          </a:p>
          <a:p/>
          <a:p>
            <a:r>
              <a:t>[0:00 - 0:10] SEGMENT 1: TEAM NAME (10s)</a:t>
            </a:r>
          </a:p>
          <a:p>
            <a:r>
              <a:t>"Good afternoon, judges and fellow builders! We are PRISMATIC—and we are here to refract the way college students learn!"</a:t>
            </a:r>
          </a:p>
          <a:p/>
          <a:p>
            <a:r>
              <a:t>[0:10 - 0:35] SEGMENT 2: THE HOOK (25s)</a:t>
            </a:r>
          </a:p>
          <a:p>
            <a:r>
              <a:t>"It’s 2:00 AM before midterms. You’ve re-read the exact same textbook paragraph six times—and understood it zero times. [Micro-pause] You turn to ChatGPT in desperation, and it dumps an 800-word wall of text that makes your brain freeze even harder.</a:t>
            </a:r>
          </a:p>
          <a:p>
            <a:r>
              <a:t>That sinking panic isn't a lack of intelligence—it's a failure of wavelength. White light holds every color, but professors lecture in one flat shade. Human brains don't think in monochrome—we learn in spectrums."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TIMED SCRIPT (0:35 - 1:20):</a:t>
            </a:r>
          </a:p>
          <a:p/>
          <a:p>
            <a:r>
              <a:t>[0:35 - 1:20] SEGMENT 3: YOUR APP (45s)</a:t>
            </a:r>
          </a:p>
          <a:p>
            <a:r>
              <a:t>"We built Prismatic on Amazon Quick—an agentic cognitive engine that turns 1 static lecture into 4 tailored learning modalities in under 30 seconds.</a:t>
            </a:r>
          </a:p>
          <a:p>
            <a:r>
              <a:t>First, a rapid 5-question diagnostic maps how your brain absorbs information. Then, our Amazon Bedrock pipeline instantly refracts the material:</a:t>
            </a:r>
          </a:p>
          <a:p>
            <a:r>
              <a:t>- Spectrum 1 translates abstract theory into relatable dorm and dining hall analogies.</a:t>
            </a:r>
          </a:p>
          <a:p>
            <a:r>
              <a:t>- Spectrum 2 renders structural ASCII concept maps.</a:t>
            </a:r>
          </a:p>
          <a:p>
            <a:r>
              <a:t>- Spectrum 3 launches a Socratic Sparring Partner that quizzes you one edge-case at a time without spoiling answers.</a:t>
            </a:r>
          </a:p>
          <a:p>
            <a:r>
              <a:t>- And Spectrum 4 builds a 4-slide micro-deck exposing the exact trap questions professors test on midterms."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TIMED SCRIPT (1:20 - 1:45):</a:t>
            </a:r>
          </a:p>
          <a:p/>
          <a:p>
            <a:r>
              <a:t>[1:20 - 1:45] SEGMENT 4: WHY IT WINS (25s)</a:t>
            </a:r>
          </a:p>
          <a:p>
            <a:r>
              <a:t>"Over 20 million college students face academic paralysis every semester.</a:t>
            </a:r>
          </a:p>
          <a:p>
            <a:r>
              <a:t>Generic tools like ChatGPT just dump dry walls of text that students glaze over.</a:t>
            </a:r>
          </a:p>
          <a:p>
            <a:r>
              <a:t>Private tutoring costs $80 an hour, and professor office hours are only 2 hours a week.</a:t>
            </a:r>
          </a:p>
          <a:p>
            <a:r>
              <a:t>Prismatic is active, multi-modal, and adapts the syllabus to the student—democratizing elite private tutoring for pennies."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OFFICIAL TIMED SCRIPT (1:45 - 2:00):</a:t>
            </a:r>
          </a:p>
          <a:p/>
          <a:p>
            <a:r>
              <a:t>[1:45 - 2:00] SEGMENT 5: THE CLOSE (15s)</a:t>
            </a:r>
          </a:p>
          <a:p>
            <a:r>
              <a:t>"With more time, we’d add live Canvas and syllabus LMS integration, automatically syncing weekly exam dates and generating proactive 15-minute micro-sprints before every morning class.</a:t>
            </a:r>
          </a:p>
          <a:p>
            <a:r>
              <a:t>We are PRISMATIC—refracting complex knowledge into your native spectrum.</a:t>
            </a:r>
          </a:p>
          <a:p>
            <a:r>
              <a:t>Vote Prismatic for your room champion! Thank you!"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66928"/>
            <a:ext cx="6858000" cy="384048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4A8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21792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00" b="1" i="0">
                <a:solidFill>
                  <a:srgbClr val="4A8FC2"/>
                </a:solidFill>
                <a:latin typeface="Segoe UI"/>
              </a:defRPr>
            </a:pPr>
            <a:r>
              <a:t>AWS-MLU AI TEACHING &amp; RESEARCH SYMPOSIUM 2026 · HOWARD UNIVERSITY &amp; AMAZON HQ2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31375" y="566928"/>
            <a:ext cx="1828800" cy="384048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00C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31375" y="62179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 i="0">
                <a:solidFill>
                  <a:srgbClr val="00C49F"/>
                </a:solidFill>
                <a:latin typeface="Segoe UI"/>
              </a:defRPr>
            </a:pPr>
            <a:r>
              <a:t>35s THE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15568"/>
            <a:ext cx="841248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Prismatic: The Adaptive Cognitive Engine</a:t>
            </a:r>
          </a:p>
          <a:p>
            <a:pPr>
              <a:spcBef>
                <a:spcPts val="400"/>
              </a:spcBef>
              <a:defRPr sz="1400">
                <a:solidFill>
                  <a:srgbClr val="4A8FC2"/>
                </a:solidFill>
                <a:latin typeface="Segoe UI"/>
              </a:defRPr>
            </a:pPr>
            <a:r>
              <a:t>Refracting Complex Knowledge into 4 Personalized Learning Modalities on Amazon Quick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8229600" cy="201168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77724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0C49F"/>
                </a:solidFill>
                <a:latin typeface="Segoe UI"/>
              </a:defRPr>
            </a:pPr>
            <a:r>
              <a:t>FOUNDING TEAM &amp; AFFILIATION: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FFFFFF"/>
                </a:solidFill>
              </a:rPr>
              <a:t>Saksham Kapoor </a:t>
            </a:r>
            <a:r>
              <a:rPr sz="1300">
                <a:solidFill>
                  <a:srgbClr val="A0A8B4"/>
                </a:solidFill>
              </a:rPr>
              <a:t>(University of Maryland, College Park) · 10-Student Cross-Campus Builder Cohort</a:t>
            </a:r>
          </a:p>
          <a:p>
            <a:pPr>
              <a:defRPr sz="1200" b="1">
                <a:solidFill>
                  <a:srgbClr val="4A8FC2"/>
                </a:solidFill>
                <a:latin typeface="Segoe UI"/>
              </a:defRPr>
            </a:pPr>
            <a:r>
              <a:t>THE 2:00 AM COGNITIVE PARADOX:</a:t>
            </a:r>
          </a:p>
          <a:p>
            <a:pPr>
              <a:defRPr sz="1150">
                <a:solidFill>
                  <a:srgbClr val="E8E9EC"/>
                </a:solidFill>
                <a:latin typeface="Segoe UI"/>
              </a:defRPr>
            </a:pPr>
            <a:r>
              <a:t>It’s 2:00 AM before a midterm. A student re-reads the same paragraph six times, asks ChatGPT, and gets an 800-word text wall that heightens panic. The issue isn't intelligence—it's wavelength. Lectures broadcast in monochrome, while human brains learn in spectrums.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188720"/>
            <a:ext cx="2179015" cy="32461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rismatic_github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371600"/>
            <a:ext cx="1627632" cy="16276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64040" y="3108960"/>
            <a:ext cx="18105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0C49F"/>
                </a:solidFill>
                <a:latin typeface="Segoe UI"/>
              </a:defRPr>
            </a:pPr>
            <a:r>
              <a:t>SCAN FOR DEMO</a:t>
            </a:r>
          </a:p>
          <a:p>
            <a:pPr algn="ctr">
              <a:defRPr sz="900">
                <a:solidFill>
                  <a:srgbClr val="A0A8B4"/>
                </a:solidFill>
                <a:latin typeface="Segoe UI"/>
              </a:defRPr>
            </a:pPr>
            <a:r>
              <a:t>GitHub repo, web app code, prompt specs &amp; cue cards.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09160"/>
            <a:ext cx="2523744" cy="1600200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87375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00C49F"/>
                </a:solidFill>
                <a:latin typeface="Segoe UI"/>
              </a:defRPr>
            </a:pPr>
            <a:r>
              <a:t>&lt; 30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294376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Cognitive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6418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A8B4"/>
                </a:solidFill>
                <a:latin typeface="Segoe UI"/>
              </a:defRPr>
            </a:pPr>
            <a:r>
              <a:t>5-question diagnostic maps intake 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5576" y="4709160"/>
            <a:ext cx="2523744" cy="1600200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487375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00C49F"/>
                </a:solidFill>
                <a:latin typeface="Segoe UI"/>
              </a:defRPr>
            </a:pPr>
            <a:r>
              <a:t>4 SPECTRUMS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5294376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Learning Modalities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56418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A8B4"/>
                </a:solidFill>
                <a:latin typeface="Segoe UI"/>
              </a:defRPr>
            </a:pPr>
            <a:r>
              <a:t>Analogies, Schemas, Socratic &amp; Decks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709160"/>
            <a:ext cx="2523744" cy="1600200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487375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000" b="1" i="0">
                <a:solidFill>
                  <a:srgbClr val="00C49F"/>
                </a:solidFill>
                <a:latin typeface="Segoe UI"/>
              </a:defRPr>
            </a:pPr>
            <a:r>
              <a:t>2-SENTENCE CAP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5294376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Socratic Sparring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6418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A8B4"/>
                </a:solidFill>
                <a:latin typeface="Segoe UI"/>
              </a:defRPr>
            </a:pPr>
            <a:r>
              <a:t>Active recall without text dumps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3688" y="4709160"/>
            <a:ext cx="2523744" cy="1600200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4873752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A855F7"/>
                </a:solidFill>
                <a:latin typeface="Segoe UI"/>
              </a:defRPr>
            </a:pPr>
            <a:r>
              <a:t>100% NO-CODE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294376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Segoe UI"/>
              </a:defRPr>
            </a:pPr>
            <a:r>
              <a:t>Amazon Quick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56418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A8B4"/>
                </a:solidFill>
                <a:latin typeface="Segoe UI"/>
              </a:defRPr>
            </a:pPr>
            <a:r>
              <a:t>Full multi-widget pipeline in 60 mins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78808E"/>
                </a:solidFill>
                <a:latin typeface="Segoe UI"/>
              </a:defRPr>
            </a:pPr>
            <a:r>
              <a:t>PRISMATIC · AWS × MLU FALL SYMPOSIUM 2026 · HOWARD UNIVERSITY &amp; AMAZON HQ2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4A8FC2"/>
                </a:solidFill>
                <a:latin typeface="Segoe UI"/>
              </a:defRPr>
            </a:pPr>
            <a:r>
              <a:t>PRODUCT ARCHITECTURE &amp;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48495" y="320040"/>
            <a:ext cx="2011680" cy="347472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4A8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00C49F"/>
                </a:solidFill>
                <a:latin typeface="Segoe UI"/>
              </a:defRPr>
            </a:pPr>
            <a:r>
              <a:t>45S APP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Segoe UI"/>
              </a:defRPr>
            </a:pPr>
            <a:r>
              <a:t>The 4 Learning Spectrums: Zero Errors, Pure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A0A8B4"/>
                </a:solidFill>
                <a:latin typeface="Segoe UI"/>
              </a:defRPr>
            </a:pPr>
            <a:r>
              <a:t>Orchestrated in a 60-minute build sprint on Amazon Quick &amp; Amazon Bedrock foundation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30368" cy="224028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892808"/>
            <a:ext cx="1645920" cy="274320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4A8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02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4A8FC2"/>
                </a:solidFill>
                <a:latin typeface="Segoe UI"/>
              </a:defRPr>
            </a:pPr>
            <a:r>
              <a:t>METAPHORICAL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58568"/>
            <a:ext cx="47731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Dorm &amp; Dining Hall Realities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4773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4A8FC2"/>
                </a:solidFill>
                <a:latin typeface="Segoe UI"/>
              </a:defRPr>
            </a:pPr>
            <a:r>
              <a:t>SPECTRUM 1: INTUITIVE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98648"/>
            <a:ext cx="4773168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A8B4"/>
                </a:solidFill>
                <a:latin typeface="Segoe UI"/>
              </a:defRPr>
            </a:pPr>
            <a:r>
              <a:t>Translates abstract theory into daily campus navigation. E.g., Dijkstra's shortest path = navigating peak dining hall line rush at Blackburn Center.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5230368" cy="224028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92808"/>
            <a:ext cx="1645920" cy="274320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A855F7"/>
                </a:solidFill>
                <a:latin typeface="Segoe UI"/>
              </a:defRPr>
            </a:pPr>
            <a:r>
              <a:t>VISUO-SPATIAL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58568"/>
            <a:ext cx="47731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Structural Concept Maps &amp; ASCII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87752"/>
            <a:ext cx="4773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A855F7"/>
                </a:solidFill>
                <a:latin typeface="Segoe UI"/>
              </a:defRPr>
            </a:pPr>
            <a:r>
              <a:t>SPECTRUM 2: VISUAL SCHEMATIC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98648"/>
            <a:ext cx="4773168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A8B4"/>
                </a:solidFill>
                <a:latin typeface="Segoe UI"/>
              </a:defRPr>
            </a:pPr>
            <a:r>
              <a:t>Renders execution trees, logical branches, and state machines into structural mental schemas for complex STEM and CS coursework.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60520"/>
            <a:ext cx="5230368" cy="224028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" y="4361688"/>
            <a:ext cx="1645920" cy="274320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00C4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3891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00C49F"/>
                </a:solidFill>
                <a:latin typeface="Segoe UI"/>
              </a:defRPr>
            </a:pPr>
            <a:r>
              <a:t>KINESTHETIC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727448"/>
            <a:ext cx="47731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Active Retrieval Partner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2"/>
            <a:ext cx="4773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00C49F"/>
                </a:solidFill>
                <a:latin typeface="Segoe UI"/>
              </a:defRPr>
            </a:pPr>
            <a:r>
              <a:t>SPECTRUM 3: SOCRATIC SPARRING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67528"/>
            <a:ext cx="4773168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A8B4"/>
                </a:solidFill>
                <a:latin typeface="Segoe UI"/>
              </a:defRPr>
            </a:pPr>
            <a:r>
              <a:t>Chatbot strictly capped at 2 sentences; never lectures; fires progressive edge cases to force active recall without giving away answers.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160520"/>
            <a:ext cx="5230368" cy="224028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4361688"/>
            <a:ext cx="1645920" cy="274320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38912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 i="0">
                <a:solidFill>
                  <a:srgbClr val="F59E0B"/>
                </a:solidFill>
                <a:latin typeface="Segoe UI"/>
              </a:defRPr>
            </a:pPr>
            <a:r>
              <a:t>SYNTHESIS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727448"/>
            <a:ext cx="477316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4-Slide Micro-Presentation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056632"/>
            <a:ext cx="477316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1" i="0">
                <a:solidFill>
                  <a:srgbClr val="F59E0B"/>
                </a:solidFill>
                <a:latin typeface="Segoe UI"/>
              </a:defRPr>
            </a:pPr>
            <a:r>
              <a:t>SPECTRUM 4: EXAM TRAP DECK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67528"/>
            <a:ext cx="4773168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00" b="0" i="0">
                <a:solidFill>
                  <a:srgbClr val="A0A8B4"/>
                </a:solidFill>
                <a:latin typeface="Segoe UI"/>
              </a:defRPr>
            </a:pPr>
            <a:r>
              <a:t>Distills the topic into 4 high-yield slides exposing the exact trick questions professors test on Midterm #2, paired with AI visual anchors.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78808E"/>
                </a:solidFill>
                <a:latin typeface="Segoe UI"/>
              </a:defRPr>
            </a:pPr>
            <a:r>
              <a:t>PRISMATIC · AWS × MLU FALL SYMPOSIUM 2026 · HOWARD UNIVERSITY &amp; AMAZON HQ2 | 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4A8FC2"/>
                </a:solidFill>
                <a:latin typeface="Segoe UI"/>
              </a:defRPr>
            </a:pPr>
            <a:r>
              <a:t>COMPETITIVE MOAT &amp; STUDENT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48495" y="320040"/>
            <a:ext cx="2011680" cy="347472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4A8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00C49F"/>
                </a:solidFill>
                <a:latin typeface="Segoe UI"/>
              </a:defRPr>
            </a:pPr>
            <a:r>
              <a:t>25S WHY IT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Segoe UI"/>
              </a:defRPr>
            </a:pPr>
            <a:r>
              <a:t>Why Prismatic Wins: The $80/Hour Tutoring Alternative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A0A8B4"/>
                </a:solidFill>
                <a:latin typeface="Segoe UI"/>
              </a:defRPr>
            </a:pPr>
            <a:r>
              <a:t>Comparing modern AI study workflows against passive text dumps and expensive human tutoring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10712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4A8FC2"/>
                </a:solidFill>
                <a:latin typeface="Segoe UI"/>
              </a:defRPr>
            </a:pPr>
            <a:r>
              <a:t>VS. CHATGPT &amp; RAW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Active Sparring vs. Text Dumps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95351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A0A8B4"/>
                </a:solidFill>
                <a:latin typeface="Segoe UI"/>
              </a:defRPr>
            </a:pPr>
            <a:r>
              <a:t>ChatGPT dumps 800-word walls students glaze over. Prismatic caps replies at 2 sentences and forces active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91640"/>
            <a:ext cx="3410712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EF4444"/>
                </a:solidFill>
                <a:latin typeface="Segoe UI"/>
              </a:defRPr>
            </a:pPr>
            <a:r>
              <a:t>VS. $80/HR PRIVATE TUTORING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Democratizing Academic Mastery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26080"/>
            <a:ext cx="295351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A0A8B4"/>
                </a:solidFill>
                <a:latin typeface="Segoe UI"/>
              </a:defRPr>
            </a:pPr>
            <a:r>
              <a:t>Tutors cost $80/hr; office hours are 2 hrs/week. Prismatic gives every student 24/7 adaptive tutoring for pennies.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91640"/>
            <a:ext cx="3410712" cy="448056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2953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00C49F"/>
                </a:solidFill>
                <a:latin typeface="Segoe UI"/>
              </a:defRPr>
            </a:pPr>
            <a:r>
              <a:t>VS. STATIC SLIDES &amp; SYLLABI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77440"/>
            <a:ext cx="295351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Segoe UI"/>
              </a:defRPr>
            </a:pPr>
            <a:r>
              <a:t>Dynamic Cognitive 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26080"/>
            <a:ext cx="2953512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A0A8B4"/>
                </a:solidFill>
                <a:latin typeface="Segoe UI"/>
              </a:defRPr>
            </a:pPr>
            <a:r>
              <a:t>Ends task paralysis for ADHD, visual, and verbal learners with a 30-second diagnostic.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78808E"/>
                </a:solidFill>
                <a:latin typeface="Segoe UI"/>
              </a:defRPr>
            </a:pPr>
            <a:r>
              <a:t>PRISMATIC · AWS × MLU FALL SYMPOSIUM 2026 · HOWARD UNIVERSITY &amp; AMAZON HQ2 | 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4747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4A8FC2"/>
                </a:solidFill>
                <a:latin typeface="Segoe UI"/>
              </a:defRPr>
            </a:pPr>
            <a:r>
              <a:t>CLOSING STATEMENT &amp; EVALUATION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48495" y="320040"/>
            <a:ext cx="2011680" cy="347472"/>
          </a:xfrm>
          <a:prstGeom prst="roundRect">
            <a:avLst/>
          </a:prstGeom>
          <a:solidFill>
            <a:srgbClr val="1A202E"/>
          </a:solidFill>
          <a:ln w="12700">
            <a:solidFill>
              <a:srgbClr val="4A8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00C49F"/>
                </a:solidFill>
                <a:latin typeface="Segoe UI"/>
              </a:defRPr>
            </a:pPr>
            <a:r>
              <a:t>15S THE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300" b="1" i="0">
                <a:solidFill>
                  <a:srgbClr val="FFFFFF"/>
                </a:solidFill>
                <a:latin typeface="Segoe UI"/>
              </a:defRPr>
            </a:pPr>
            <a:r>
              <a:t>'With More Time We'd Add...' &amp; The Shark Tank Verdict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0" i="0">
                <a:solidFill>
                  <a:srgbClr val="A0A8B4"/>
                </a:solidFill>
                <a:latin typeface="Segoe UI"/>
              </a:defRPr>
            </a:pPr>
            <a:r>
              <a:t>Meeting 100% of official judging criteria: Creativity, Usefulness, Execution &amp; Teamwork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23744" cy="14173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4A8FC2"/>
                </a:solidFill>
                <a:latin typeface="Segoe UI"/>
              </a:defRPr>
            </a:pPr>
            <a:r>
              <a:t>CREATIVITY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21579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E8E9EC"/>
                </a:solidFill>
                <a:latin typeface="Segoe UI"/>
              </a:defRPr>
            </a:pPr>
            <a:r>
              <a:t>Cognitive refraction metaphor (white light → spectrums)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91640"/>
            <a:ext cx="2523744" cy="14173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1828800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00C49F"/>
                </a:solidFill>
                <a:latin typeface="Segoe UI"/>
              </a:defRPr>
            </a:pPr>
            <a:r>
              <a:t>USEFULNESS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176272"/>
            <a:ext cx="21579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E8E9EC"/>
                </a:solidFill>
                <a:latin typeface="Segoe UI"/>
              </a:defRPr>
            </a:pPr>
            <a:r>
              <a:t>Directly solves dorm paralysis &amp; exam anxiety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91640"/>
            <a:ext cx="2523744" cy="14173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828800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A855F7"/>
                </a:solidFill>
                <a:latin typeface="Segoe UI"/>
              </a:defRPr>
            </a:pPr>
            <a:r>
              <a:t>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176272"/>
            <a:ext cx="21579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E8E9EC"/>
                </a:solidFill>
                <a:latin typeface="Segoe UI"/>
              </a:defRPr>
            </a:pPr>
            <a:r>
              <a:t>Working 6-widget pipeline on Amazon Quick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691640"/>
            <a:ext cx="2523744" cy="1417320"/>
          </a:xfrm>
          <a:prstGeom prst="roundRect">
            <a:avLst/>
          </a:prstGeom>
          <a:solidFill>
            <a:srgbClr val="131822"/>
          </a:solidFill>
          <a:ln w="12700">
            <a:solidFill>
              <a:srgbClr val="2B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6568" y="1828800"/>
            <a:ext cx="2157984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150" b="1" i="0">
                <a:solidFill>
                  <a:srgbClr val="F59E0B"/>
                </a:solidFill>
                <a:latin typeface="Segoe UI"/>
              </a:defRPr>
            </a:pPr>
            <a:r>
              <a:t>TEAMWORK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2176272"/>
            <a:ext cx="2157984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050" b="0" i="0">
                <a:solidFill>
                  <a:srgbClr val="E8E9EC"/>
                </a:solidFill>
                <a:latin typeface="Segoe UI"/>
              </a:defRPr>
            </a:pPr>
            <a:r>
              <a:t>10 teammates with dedicated active roles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10728655" cy="2971800"/>
          </a:xfrm>
          <a:prstGeom prst="roundRect">
            <a:avLst/>
          </a:prstGeom>
          <a:solidFill>
            <a:srgbClr val="1A202E"/>
          </a:solidFill>
          <a:ln w="15240">
            <a:solidFill>
              <a:srgbClr val="4A8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566160"/>
            <a:ext cx="100584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A8FC2"/>
                </a:solidFill>
                <a:latin typeface="Segoe UI"/>
              </a:defRPr>
            </a:pPr>
            <a:r>
              <a:t>OFFICIAL HANDOUT MANDATE: 'WITH MORE TIME WE'D ADD...'</a:t>
            </a:r>
          </a:p>
          <a:p>
            <a:pPr>
              <a:spcBef>
                <a:spcPts val="600"/>
              </a:spcBef>
              <a:defRPr sz="1300" i="1">
                <a:solidFill>
                  <a:srgbClr val="FFFFFF"/>
                </a:solidFill>
                <a:latin typeface="Segoe UI"/>
              </a:defRPr>
            </a:pPr>
            <a:r>
              <a:t>"With more time, we’d add live Canvas and syllabus LMS integration, automatically syncing weekly exam dates and generating proactive 15-minute micro-sprints before every morning class.</a:t>
            </a:r>
            <a:br/>
            <a:br/>
            <a:r>
              <a:t>We don't just help students pass exams; we eliminate academic paralysis and unlock confidence."</a:t>
            </a:r>
          </a:p>
          <a:p>
            <a:pPr>
              <a:spcBef>
                <a:spcPts val="800"/>
              </a:spcBef>
              <a:defRPr sz="1250" b="1">
                <a:solidFill>
                  <a:srgbClr val="00C49F"/>
                </a:solidFill>
                <a:latin typeface="Segoe UI"/>
              </a:defRPr>
            </a:pPr>
            <a:r>
              <a:t>WE ARE PRISMATIC — REFRACTING COMPLEX KNOWLEDGE INTO YOUR NATIVE SPECTRUM. VOTE PRISMATIC!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510528"/>
            <a:ext cx="10728655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78808E"/>
                </a:solidFill>
                <a:latin typeface="Segoe UI"/>
              </a:defRPr>
            </a:pPr>
            <a:r>
              <a:t>PRISMATIC · AWS × MLU FALL SYMPOSIUM 2026 · HOWARD UNIVERSITY &amp; AMAZON HQ2 | 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